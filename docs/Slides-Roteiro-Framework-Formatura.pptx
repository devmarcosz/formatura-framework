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7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 type="wide"/>
  <p:notesSz cx="6858000" cy="9144000"/>
  <p:defaultTextStyle>
    <a:defPPr>
      <a:defRPr lang="pt-BR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2A"/>
          </a:solidFill>
          <a:ln w="12700">
            <a:solidFill>
              <a:srgbClr val="0E1B2A"/>
            </a:solidFill>
          </a:ln>
        </p:spPr>
        <p:txBody>
          <a:bodyPr wrap="square" anchor="mid"/>
          <a:lstStyle/>
        </p:txBody>
      </p:sp>
      <p:sp>
        <p:nvSpPr>
          <p:cNvPr id="3" name="Texto"/>
          <p:cNvSpPr txBox="1"/>
          <p:nvPr/>
        </p:nvSpPr>
        <p:spPr>
          <a:xfrm>
            <a:off x="731520" y="914400"/>
            <a:ext cx="10789920" cy="164592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pt-BR" sz="3800" typeface="Arial" b="1">
                <a:solidFill>
                  <a:srgbClr val="FFFFFF"/>
                </a:solidFill>
              </a:rPr>
              <a:t>Framework para Sistemas de Formatura Online</a:t>
            </a:r>
          </a:p>
          <a:p>
            <a:pPr algn="ctr"/>
            <a:r>
              <a:rPr lang="pt-BR" sz="2300" typeface="Arial">
                <a:solidFill>
                  <a:srgbClr val="BFD7F0"/>
                </a:solidFill>
              </a:rPr>
              <a:t>Microservices + Componentes de Software</a:t>
            </a:r>
          </a:p>
        </p:txBody>
      </p:sp>
      <p:sp>
        <p:nvSpPr>
          <p:cNvPr id="4" name="Texto"/>
          <p:cNvSpPr txBox="1"/>
          <p:nvPr/>
        </p:nvSpPr>
        <p:spPr>
          <a:xfrm>
            <a:off x="1280160" y="2788920"/>
            <a:ext cx="9692640" cy="914400"/>
          </a:xfrm>
          <a:prstGeom prst="roundRect">
            <a:avLst/>
          </a:prstGeom>
          <a:solidFill>
            <a:srgbClr val="18304A"/>
          </a:solidFill>
          <a:ln w="12700">
            <a:solidFill>
              <a:srgbClr val="2D537A"/>
            </a:solidFill>
          </a:ln>
        </p:spPr>
        <p:txBody>
          <a:bodyPr wrap="square" anchor="mid"/>
          <a:lstStyle/>
          <a:p>
            <a:pPr algn="ctr"/>
            <a:r>
              <a:rPr lang="pt-BR" sz="2200" typeface="Arial">
                <a:solidFill>
                  <a:srgbClr val="EAF2FA"/>
                </a:solidFill>
              </a:rPr>
              <a:t>ECOM189 - Reuso de Software e Metodologias Ageis</a:t>
            </a:r>
          </a:p>
          <a:p>
            <a:pPr algn="ctr"/>
            <a:r>
              <a:rPr lang="pt-BR" sz="2000" typeface="Arial" b="1">
                <a:solidFill>
                  <a:srgbClr val="EAF2FA"/>
                </a:solidFill>
              </a:rPr>
              <a:t>Marcos</a:t>
            </a:r>
          </a:p>
        </p:txBody>
      </p:sp>
      <p:sp>
        <p:nvSpPr>
          <p:cNvPr id="5" name="Texto"/>
          <p:cNvSpPr txBox="1"/>
          <p:nvPr/>
        </p:nvSpPr>
        <p:spPr>
          <a:xfrm>
            <a:off x="1005840" y="4343400"/>
            <a:ext cx="10149840" cy="640080"/>
          </a:xfrm>
          <a:prstGeom prst="round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txBody>
          <a:bodyPr wrap="square" anchor="mid"/>
          <a:lstStyle/>
          <a:p>
            <a:pPr algn="ctr"/>
            <a:r>
              <a:rPr lang="pt-BR" sz="2000" typeface="Arial" b="1">
                <a:solidFill>
                  <a:srgbClr val="FFFFFF"/>
                </a:solidFill>
              </a:rPr>
              <a:t>6 hot spots - Template Method - Strategy - Factory - API Gateway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"/>
          <p:cNvSpPr txBox="1"/>
          <p:nvPr/>
        </p:nvSpPr>
        <p:spPr>
          <a:xfrm>
            <a:off x="411480" y="256032"/>
            <a:ext cx="11384280" cy="749808"/>
          </a:xfrm>
          <a:prstGeom prst="rect">
            <a:avLst/>
          </a:prstGeom>
          <a:solidFill>
            <a:srgbClr val="0E1B2A"/>
          </a:solidFill>
          <a:ln w="12700">
            <a:solidFill>
              <a:srgbClr val="0E1B2A"/>
            </a:solidFill>
          </a:ln>
        </p:spPr>
        <p:txBody>
          <a:bodyPr wrap="square" anchor="mid"/>
          <a:lstStyle/>
          <a:p>
            <a:pPr algn="ctr"/>
            <a:r>
              <a:rPr lang="pt-BR" sz="3200" typeface="Arial" b="1">
                <a:solidFill>
                  <a:srgbClr val="FFFFFF"/>
                </a:solidFill>
              </a:rPr>
              <a:t>Roteiro do video</a:t>
            </a:r>
          </a:p>
          <a:p>
            <a:pPr algn="ctr"/>
            <a:r>
              <a:rPr lang="pt-BR" sz="1500" typeface="Arial">
                <a:solidFill>
                  <a:srgbClr val="DDEBFA"/>
                </a:solidFill>
              </a:rPr>
              <a:t>6 a 7 minutos</a:t>
            </a:r>
          </a:p>
        </p:txBody>
      </p:sp>
      <p:sp>
        <p:nvSpPr>
          <p:cNvPr id="3" name="Texto"/>
          <p:cNvSpPr txBox="1"/>
          <p:nvPr/>
        </p:nvSpPr>
        <p:spPr>
          <a:xfrm>
            <a:off x="822960" y="1325880"/>
            <a:ext cx="53949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2"/>
            </a:solidFill>
          </a:ln>
        </p:spPr>
        <p:txBody>
          <a:bodyPr wrap="square" anchor="mid"/>
          <a:lstStyle/>
          <a:p>
            <a:pPr marL="342900" indent="-171450">
              <a:buChar char="?"/>
            </a:pPr>
            <a:r>
              <a:rPr lang="pt-BR" sz="2100">
                <a:solidFill>
                  <a:srgbClr val="102033"/>
                </a:solidFill>
              </a:rPr>
              <a:t>Abertura e objetivo do projeto</a:t>
            </a:r>
          </a:p>
          <a:p>
            <a:pPr marL="342900" indent="-171450">
              <a:buChar char="?"/>
            </a:pPr>
            <a:r>
              <a:rPr lang="pt-BR" sz="2100">
                <a:solidFill>
                  <a:srgbClr val="102033"/>
                </a:solidFill>
              </a:rPr>
              <a:t>Conceito: framework, frozen spots e hot spots</a:t>
            </a:r>
          </a:p>
          <a:p>
            <a:pPr marL="342900" indent="-171450">
              <a:buChar char="?"/>
            </a:pPr>
            <a:r>
              <a:rPr lang="pt-BR" sz="2100">
                <a:solidFill>
                  <a:srgbClr val="102033"/>
                </a:solidFill>
              </a:rPr>
              <a:t>Arquitetura com microservicos</a:t>
            </a:r>
          </a:p>
          <a:p>
            <a:pPr marL="342900" indent="-171450">
              <a:buChar char="?"/>
            </a:pPr>
            <a:r>
              <a:rPr lang="pt-BR" sz="2100">
                <a:solidFill>
                  <a:srgbClr val="102033"/>
                </a:solidFill>
              </a:rPr>
              <a:t>Codigo do framework-core nos proximos slides</a:t>
            </a:r>
          </a:p>
          <a:p>
            <a:pPr marL="342900" indent="-171450">
              <a:buChar char="?"/>
            </a:pPr>
            <a:r>
              <a:rPr lang="pt-BR" sz="2100">
                <a:solidFill>
                  <a:srgbClr val="102033"/>
                </a:solidFill>
              </a:rPr>
              <a:t>Demonstracao dos 6 hot spots no navegador</a:t>
            </a:r>
          </a:p>
          <a:p>
            <a:pPr marL="342900" indent="-171450">
              <a:buChar char="?"/>
            </a:pPr>
            <a:r>
              <a:rPr lang="pt-BR" sz="2100">
                <a:solidFill>
                  <a:srgbClr val="102033"/>
                </a:solidFill>
              </a:rPr>
              <a:t>Testes e encerramento</a:t>
            </a:r>
          </a:p>
        </p:txBody>
      </p:sp>
      <p:sp>
        <p:nvSpPr>
          <p:cNvPr id="4" name="Texto"/>
          <p:cNvSpPr txBox="1"/>
          <p:nvPr/>
        </p:nvSpPr>
        <p:spPr>
          <a:xfrm>
            <a:off x="6629400" y="1508760"/>
            <a:ext cx="4434840" cy="3200400"/>
          </a:xfrm>
          <a:prstGeom prst="roundRect">
            <a:avLst/>
          </a:prstGeom>
          <a:solidFill>
            <a:srgbClr val="EEF7F3"/>
          </a:solidFill>
          <a:ln w="12700">
            <a:solidFill>
              <a:srgbClr val="B8DCCB"/>
            </a:solidFill>
          </a:ln>
        </p:spPr>
        <p:txBody>
          <a:bodyPr wrap="square" anchor="mid"/>
          <a:lstStyle/>
          <a:p>
            <a:pPr algn="ctr"/>
            <a:r>
              <a:rPr lang="pt-BR" sz="2500" typeface="Arial" b="1">
                <a:solidFill>
                  <a:srgbClr val="1769AA"/>
                </a:solidFill>
              </a:rPr>
              <a:t>Frase-chave</a:t>
            </a:r>
          </a:p>
          <a:p>
            <a:pPr algn="ctr"/>
            <a:r>
              <a:rPr lang="pt-BR" sz="2300" typeface="Arial" b="1">
                <a:solidFill>
                  <a:srgbClr val="102033"/>
                </a:solidFill>
              </a:rPr>
              <a:t>Isto nao e so um app: e um framework reutilizavel para o dominio de formaturas.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"/>
          <p:cNvSpPr txBox="1"/>
          <p:nvPr/>
        </p:nvSpPr>
        <p:spPr>
          <a:xfrm>
            <a:off x="411480" y="256032"/>
            <a:ext cx="11384280" cy="749808"/>
          </a:xfrm>
          <a:prstGeom prst="rect">
            <a:avLst/>
          </a:prstGeom>
          <a:solidFill>
            <a:srgbClr val="0E1B2A"/>
          </a:solidFill>
          <a:ln w="12700">
            <a:solidFill>
              <a:srgbClr val="0E1B2A"/>
            </a:solidFill>
          </a:ln>
        </p:spPr>
        <p:txBody>
          <a:bodyPr wrap="square" anchor="mid"/>
          <a:lstStyle/>
          <a:p>
            <a:pPr algn="ctr"/>
            <a:r>
              <a:rPr lang="pt-BR" sz="3200" typeface="Arial" b="1">
                <a:solidFill>
                  <a:srgbClr val="FFFFFF"/>
                </a:solidFill>
              </a:rPr>
              <a:t>Conceito de Framework</a:t>
            </a:r>
          </a:p>
          <a:p>
            <a:pPr algn="ctr"/>
            <a:r>
              <a:rPr lang="pt-BR" sz="1500" typeface="Arial">
                <a:solidFill>
                  <a:srgbClr val="DDEBFA"/>
                </a:solidFill>
              </a:rPr>
              <a:t>Parte fixa + pontos controlados de variacao</a:t>
            </a:r>
          </a:p>
        </p:txBody>
      </p:sp>
      <p:sp>
        <p:nvSpPr>
          <p:cNvPr id="3" name="Texto"/>
          <p:cNvSpPr txBox="1"/>
          <p:nvPr/>
        </p:nvSpPr>
        <p:spPr>
          <a:xfrm>
            <a:off x="640080" y="1325880"/>
            <a:ext cx="34290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2"/>
            </a:solidFill>
          </a:ln>
        </p:spPr>
        <p:txBody>
          <a:bodyPr wrap="square" anchor="mid"/>
          <a:lstStyle/>
          <a:p>
            <a:pPr algn="ctr"/>
            <a:r>
              <a:rPr lang="pt-BR" sz="2600" typeface="Arial" b="1">
                <a:solidFill>
                  <a:srgbClr val="1769AA"/>
                </a:solidFill>
              </a:rPr>
              <a:t>Frozen spots</a:t>
            </a:r>
          </a:p>
          <a:p>
            <a:pPr marL="342900" indent="-171450">
              <a:buChar char="?"/>
            </a:pPr>
            <a:r>
              <a:rPr lang="pt-BR" sz="1900">
                <a:solidFill>
                  <a:srgbClr val="102033"/>
                </a:solidFill>
              </a:rPr>
              <a:t>Fluxos comuns</a:t>
            </a:r>
          </a:p>
          <a:p>
            <a:pPr marL="342900" indent="-171450">
              <a:buChar char="?"/>
            </a:pPr>
            <a:r>
              <a:rPr lang="pt-BR" sz="1900">
                <a:solidFill>
                  <a:srgbClr val="102033"/>
                </a:solidFill>
              </a:rPr>
              <a:t>Orquestracao</a:t>
            </a:r>
          </a:p>
          <a:p>
            <a:pPr marL="342900" indent="-171450">
              <a:buChar char="?"/>
            </a:pPr>
            <a:r>
              <a:rPr lang="pt-BR" sz="1900">
                <a:solidFill>
                  <a:srgbClr val="102033"/>
                </a:solidFill>
              </a:rPr>
              <a:t>Validacao</a:t>
            </a:r>
          </a:p>
          <a:p>
            <a:pPr marL="342900" indent="-171450">
              <a:buChar char="?"/>
            </a:pPr>
            <a:r>
              <a:rPr lang="pt-BR" sz="1900">
                <a:solidFill>
                  <a:srgbClr val="102033"/>
                </a:solidFill>
              </a:rPr>
              <a:t>Geracao de resultados</a:t>
            </a:r>
          </a:p>
        </p:txBody>
      </p:sp>
      <p:sp>
        <p:nvSpPr>
          <p:cNvPr id="4" name="Texto"/>
          <p:cNvSpPr txBox="1"/>
          <p:nvPr/>
        </p:nvSpPr>
        <p:spPr>
          <a:xfrm>
            <a:off x="4434840" y="1325880"/>
            <a:ext cx="34290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2"/>
            </a:solidFill>
          </a:ln>
        </p:spPr>
        <p:txBody>
          <a:bodyPr wrap="square" anchor="mid"/>
          <a:lstStyle/>
          <a:p>
            <a:pPr algn="ctr"/>
            <a:r>
              <a:rPr lang="pt-BR" sz="2600" typeface="Arial" b="1">
                <a:solidFill>
                  <a:srgbClr val="C98118"/>
                </a:solidFill>
              </a:rPr>
              <a:t>Hot spots</a:t>
            </a:r>
          </a:p>
          <a:p>
            <a:pPr marL="342900" indent="-171450">
              <a:buChar char="?"/>
            </a:pPr>
            <a:r>
              <a:rPr lang="pt-BR" sz="1900">
                <a:solidFill>
                  <a:srgbClr val="102033"/>
                </a:solidFill>
              </a:rPr>
              <a:t>Rateio</a:t>
            </a:r>
          </a:p>
          <a:p>
            <a:pPr marL="342900" indent="-171450">
              <a:buChar char="?"/>
            </a:pPr>
            <a:r>
              <a:rPr lang="pt-BR" sz="1900">
                <a:solidFill>
                  <a:srgbClr val="102033"/>
                </a:solidFill>
              </a:rPr>
              <a:t>Pagamento</a:t>
            </a:r>
          </a:p>
          <a:p>
            <a:pPr marL="342900" indent="-171450">
              <a:buChar char="?"/>
            </a:pPr>
            <a:r>
              <a:rPr lang="pt-BR" sz="1900">
                <a:solidFill>
                  <a:srgbClr val="102033"/>
                </a:solidFill>
              </a:rPr>
              <a:t>Evento</a:t>
            </a:r>
          </a:p>
          <a:p>
            <a:pPr marL="342900" indent="-171450">
              <a:buChar char="?"/>
            </a:pPr>
            <a:r>
              <a:rPr lang="pt-BR" sz="1900">
                <a:solidFill>
                  <a:srgbClr val="102033"/>
                </a:solidFill>
              </a:rPr>
              <a:t>Votacao</a:t>
            </a:r>
          </a:p>
          <a:p>
            <a:pPr marL="342900" indent="-171450">
              <a:buChar char="?"/>
            </a:pPr>
            <a:r>
              <a:rPr lang="pt-BR" sz="1900">
                <a:solidFill>
                  <a:srgbClr val="102033"/>
                </a:solidFill>
              </a:rPr>
              <a:t>Notificacao</a:t>
            </a:r>
          </a:p>
          <a:p>
            <a:pPr marL="342900" indent="-171450">
              <a:buChar char="?"/>
            </a:pPr>
            <a:r>
              <a:rPr lang="pt-BR" sz="1900">
                <a:solidFill>
                  <a:srgbClr val="102033"/>
                </a:solidFill>
              </a:rPr>
              <a:t>Pacotes</a:t>
            </a:r>
          </a:p>
        </p:txBody>
      </p:sp>
      <p:sp>
        <p:nvSpPr>
          <p:cNvPr id="5" name="Texto"/>
          <p:cNvSpPr txBox="1"/>
          <p:nvPr/>
        </p:nvSpPr>
        <p:spPr>
          <a:xfrm>
            <a:off x="8183879" y="1325880"/>
            <a:ext cx="3246120" cy="3566160"/>
          </a:xfrm>
          <a:prstGeom prst="roundRect">
            <a:avLst/>
          </a:prstGeom>
          <a:solidFill>
            <a:srgbClr val="EEF7F3"/>
          </a:solidFill>
          <a:ln w="12700">
            <a:solidFill>
              <a:srgbClr val="B8DCCB"/>
            </a:solidFill>
          </a:ln>
        </p:spPr>
        <p:txBody>
          <a:bodyPr wrap="square" anchor="mid"/>
          <a:lstStyle/>
          <a:p>
            <a:pPr algn="ctr"/>
            <a:r>
              <a:rPr lang="pt-BR" sz="2400" typeface="Arial" b="1">
                <a:solidFill>
                  <a:srgbClr val="228B66"/>
                </a:solidFill>
              </a:rPr>
              <a:t>Inversao de controle</a:t>
            </a:r>
          </a:p>
          <a:p>
            <a:pPr algn="ctr"/>
            <a:r>
              <a:rPr lang="pt-BR" sz="2200" typeface="Arial">
                <a:solidFill>
                  <a:srgbClr val="102033"/>
                </a:solidFill>
              </a:rPr>
              <a:t>O framework chama as implementacoes da aplicacao nos pontos de extensao.</a:t>
            </a:r>
          </a:p>
        </p:txBody>
      </p:sp>
      <p:sp>
        <p:nvSpPr>
          <p:cNvPr id="6" name="Texto"/>
          <p:cNvSpPr txBox="1"/>
          <p:nvPr/>
        </p:nvSpPr>
        <p:spPr>
          <a:xfrm>
            <a:off x="1005840" y="5257800"/>
            <a:ext cx="10149840" cy="502920"/>
          </a:xfrm>
          <a:prstGeom prst="roundRect">
            <a:avLst/>
          </a:prstGeom>
          <a:solidFill>
            <a:srgbClr val="0E1B2A"/>
          </a:solidFill>
          <a:ln w="12700">
            <a:solidFill>
              <a:srgbClr val="0E1B2A"/>
            </a:solidFill>
          </a:ln>
        </p:spPr>
        <p:txBody>
          <a:bodyPr wrap="square" anchor="mid"/>
          <a:lstStyle/>
          <a:p>
            <a:pPr algn="ctr"/>
            <a:r>
              <a:rPr lang="pt-BR" sz="2100" typeface="Arial" b="1">
                <a:solidFill>
                  <a:srgbClr val="FFFFFF"/>
                </a:solidFill>
              </a:rPr>
              <a:t>Padroes usados: Template Method, Strategy e Factory Method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"/>
          <p:cNvSpPr txBox="1"/>
          <p:nvPr/>
        </p:nvSpPr>
        <p:spPr>
          <a:xfrm>
            <a:off x="411480" y="256032"/>
            <a:ext cx="11384280" cy="749808"/>
          </a:xfrm>
          <a:prstGeom prst="rect">
            <a:avLst/>
          </a:prstGeom>
          <a:solidFill>
            <a:srgbClr val="0E1B2A"/>
          </a:solidFill>
          <a:ln w="12700">
            <a:solidFill>
              <a:srgbClr val="0E1B2A"/>
            </a:solidFill>
          </a:ln>
        </p:spPr>
        <p:txBody>
          <a:bodyPr wrap="square" anchor="mid"/>
          <a:lstStyle/>
          <a:p>
            <a:pPr algn="ctr"/>
            <a:r>
              <a:rPr lang="pt-BR" sz="3200" typeface="Arial" b="1">
                <a:solidFill>
                  <a:srgbClr val="FFFFFF"/>
                </a:solidFill>
              </a:rPr>
              <a:t>Arquitetura de Microservicos</a:t>
            </a:r>
          </a:p>
          <a:p>
            <a:pPr algn="ctr"/>
            <a:r>
              <a:rPr lang="pt-BR" sz="1500" typeface="Arial">
                <a:solidFill>
                  <a:srgbClr val="DDEBFA"/>
                </a:solidFill>
              </a:rPr>
              <a:t>API Gateway + servicos independentes + framework-core</a:t>
            </a:r>
          </a:p>
        </p:txBody>
      </p:sp>
      <p:sp>
        <p:nvSpPr>
          <p:cNvPr id="3" name="Texto"/>
          <p:cNvSpPr txBox="1"/>
          <p:nvPr/>
        </p:nvSpPr>
        <p:spPr>
          <a:xfrm>
            <a:off x="594360" y="1325880"/>
            <a:ext cx="3566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2"/>
            </a:solidFill>
          </a:ln>
        </p:spPr>
        <p:txBody>
          <a:bodyPr wrap="square" anchor="mid"/>
          <a:lstStyle/>
          <a:p>
            <a:pPr marL="342900" indent="-171450">
              <a:buChar char="?"/>
            </a:pPr>
            <a:r>
              <a:rPr lang="pt-BR" sz="1900">
                <a:solidFill>
                  <a:srgbClr val="102033"/>
                </a:solidFill>
              </a:rPr>
              <a:t>API Gateway como porta unica</a:t>
            </a:r>
          </a:p>
          <a:p>
            <a:pPr marL="342900" indent="-171450">
              <a:buChar char="?"/>
            </a:pPr>
            <a:r>
              <a:rPr lang="pt-BR" sz="1900">
                <a:solidFill>
                  <a:srgbClr val="102033"/>
                </a:solidFill>
              </a:rPr>
              <a:t>Servicos: auth, turmas, financeiro, eventos, comissao e notificacao</a:t>
            </a:r>
          </a:p>
          <a:p>
            <a:pPr marL="342900" indent="-171450">
              <a:buChar char="?"/>
            </a:pPr>
            <a:r>
              <a:rPr lang="pt-BR" sz="1900">
                <a:solidFill>
                  <a:srgbClr val="102033"/>
                </a:solidFill>
              </a:rPr>
              <a:t>framework-core compartilhado</a:t>
            </a:r>
          </a:p>
          <a:p>
            <a:pPr marL="342900" indent="-171450">
              <a:buChar char="?"/>
            </a:pPr>
            <a:r>
              <a:rPr lang="pt-BR" sz="1900">
                <a:solidFill>
                  <a:srgbClr val="102033"/>
                </a:solidFill>
              </a:rPr>
              <a:t>Microservicos rodando em Docker</a:t>
            </a:r>
          </a:p>
        </p:txBody>
      </p:sp>
      <p:pic>
        <p:nvPicPr>
          <p:cNvPr id="4" name="Imag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34440"/>
            <a:ext cx="6583680" cy="3625986"/>
          </a:xfrm>
          <a:prstGeom prst="rect">
            <a:avLst/>
          </a:prstGeom>
          <a:ln w="9525">
            <a:solidFill>
              <a:srgbClr val="C9D6E2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"/>
          <p:cNvSpPr txBox="1"/>
          <p:nvPr/>
        </p:nvSpPr>
        <p:spPr>
          <a:xfrm>
            <a:off x="411480" y="256032"/>
            <a:ext cx="11384280" cy="749808"/>
          </a:xfrm>
          <a:prstGeom prst="rect">
            <a:avLst/>
          </a:prstGeom>
          <a:solidFill>
            <a:srgbClr val="0E1B2A"/>
          </a:solidFill>
          <a:ln w="12700">
            <a:solidFill>
              <a:srgbClr val="0E1B2A"/>
            </a:solidFill>
          </a:ln>
        </p:spPr>
        <p:txBody>
          <a:bodyPr wrap="square" anchor="mid"/>
          <a:lstStyle/>
          <a:p>
            <a:pPr algn="ctr"/>
            <a:r>
              <a:rPr lang="pt-BR" sz="3200" typeface="Arial" b="1">
                <a:solidFill>
                  <a:srgbClr val="FFFFFF"/>
                </a:solidFill>
              </a:rPr>
              <a:t>Os 6 Hot Spots</a:t>
            </a:r>
          </a:p>
          <a:p>
            <a:pPr algn="ctr"/>
            <a:r>
              <a:rPr lang="pt-BR" sz="1500" typeface="Arial">
                <a:solidFill>
                  <a:srgbClr val="DDEBFA"/>
                </a:solidFill>
              </a:rPr>
              <a:t>Pontos de extensao do framework</a:t>
            </a:r>
          </a:p>
        </p:txBody>
      </p:sp>
      <p:sp>
        <p:nvSpPr>
          <p:cNvPr id="3" name="Texto"/>
          <p:cNvSpPr txBox="1"/>
          <p:nvPr/>
        </p:nvSpPr>
        <p:spPr>
          <a:xfrm>
            <a:off x="594360" y="1234440"/>
            <a:ext cx="3566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2"/>
            </a:solidFill>
          </a:ln>
        </p:spPr>
        <p:txBody>
          <a:bodyPr wrap="square" anchor="mid"/>
          <a:lstStyle/>
          <a:p>
            <a:pPr algn="l"/>
            <a:r>
              <a:rPr lang="pt-BR" sz="2300" typeface="Arial" b="1">
                <a:solidFill>
                  <a:srgbClr val="1769AA"/>
                </a:solidFill>
              </a:rPr>
              <a:t>1. Rateio</a:t>
            </a:r>
          </a:p>
          <a:p>
            <a:pPr algn="l"/>
            <a:r>
              <a:rPr lang="pt-BR" sz="1700" typeface="Arial">
                <a:solidFill>
                  <a:srgbClr val="52616F"/>
                </a:solidFill>
              </a:rPr>
              <a:t>Strategy: igualitario, adesao, renda</a:t>
            </a:r>
          </a:p>
        </p:txBody>
      </p:sp>
      <p:sp>
        <p:nvSpPr>
          <p:cNvPr id="4" name="Texto"/>
          <p:cNvSpPr txBox="1"/>
          <p:nvPr/>
        </p:nvSpPr>
        <p:spPr>
          <a:xfrm>
            <a:off x="4343400" y="1234440"/>
            <a:ext cx="3566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2"/>
            </a:solidFill>
          </a:ln>
        </p:spPr>
        <p:txBody>
          <a:bodyPr wrap="square" anchor="mid"/>
          <a:lstStyle/>
          <a:p>
            <a:pPr algn="l"/>
            <a:r>
              <a:rPr lang="pt-BR" sz="2300" typeface="Arial" b="1">
                <a:solidFill>
                  <a:srgbClr val="1769AA"/>
                </a:solidFill>
              </a:rPr>
              <a:t>2. Pagamento</a:t>
            </a:r>
          </a:p>
          <a:p>
            <a:pPr algn="l"/>
            <a:r>
              <a:rPr lang="pt-BR" sz="1700" typeface="Arial">
                <a:solidFill>
                  <a:srgbClr val="52616F"/>
                </a:solidFill>
              </a:rPr>
              <a:t>Template Method: Pix, boleto, cartao</a:t>
            </a:r>
          </a:p>
        </p:txBody>
      </p:sp>
      <p:sp>
        <p:nvSpPr>
          <p:cNvPr id="5" name="Texto"/>
          <p:cNvSpPr txBox="1"/>
          <p:nvPr/>
        </p:nvSpPr>
        <p:spPr>
          <a:xfrm>
            <a:off x="8092440" y="1234440"/>
            <a:ext cx="3566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2"/>
            </a:solidFill>
          </a:ln>
        </p:spPr>
        <p:txBody>
          <a:bodyPr wrap="square" anchor="mid"/>
          <a:lstStyle/>
          <a:p>
            <a:pPr algn="l"/>
            <a:r>
              <a:rPr lang="pt-BR" sz="2300" typeface="Arial" b="1">
                <a:solidFill>
                  <a:srgbClr val="1769AA"/>
                </a:solidFill>
              </a:rPr>
              <a:t>3. Evento</a:t>
            </a:r>
          </a:p>
          <a:p>
            <a:pPr algn="l"/>
            <a:r>
              <a:rPr lang="pt-BR" sz="1700" typeface="Arial">
                <a:solidFill>
                  <a:srgbClr val="52616F"/>
                </a:solidFill>
              </a:rPr>
              <a:t>Template Method: colacao, baile, missa</a:t>
            </a:r>
          </a:p>
        </p:txBody>
      </p:sp>
      <p:sp>
        <p:nvSpPr>
          <p:cNvPr id="6" name="Texto"/>
          <p:cNvSpPr txBox="1"/>
          <p:nvPr/>
        </p:nvSpPr>
        <p:spPr>
          <a:xfrm>
            <a:off x="594360" y="2788920"/>
            <a:ext cx="3566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2"/>
            </a:solidFill>
          </a:ln>
        </p:spPr>
        <p:txBody>
          <a:bodyPr wrap="square" anchor="mid"/>
          <a:lstStyle/>
          <a:p>
            <a:pPr algn="l"/>
            <a:r>
              <a:rPr lang="pt-BR" sz="2300" typeface="Arial" b="1">
                <a:solidFill>
                  <a:srgbClr val="1769AA"/>
                </a:solidFill>
              </a:rPr>
              <a:t>4. Votacao</a:t>
            </a:r>
          </a:p>
          <a:p>
            <a:pPr algn="l"/>
            <a:r>
              <a:rPr lang="pt-BR" sz="1700" typeface="Arial">
                <a:solidFill>
                  <a:srgbClr val="52616F"/>
                </a:solidFill>
              </a:rPr>
              <a:t>Strategy: maioria, quorum, ponderado</a:t>
            </a:r>
          </a:p>
        </p:txBody>
      </p:sp>
      <p:sp>
        <p:nvSpPr>
          <p:cNvPr id="7" name="Texto"/>
          <p:cNvSpPr txBox="1"/>
          <p:nvPr/>
        </p:nvSpPr>
        <p:spPr>
          <a:xfrm>
            <a:off x="4343400" y="2788920"/>
            <a:ext cx="3566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2"/>
            </a:solidFill>
          </a:ln>
        </p:spPr>
        <p:txBody>
          <a:bodyPr wrap="square" anchor="mid"/>
          <a:lstStyle/>
          <a:p>
            <a:pPr algn="l"/>
            <a:r>
              <a:rPr lang="pt-BR" sz="2300" typeface="Arial" b="1">
                <a:solidFill>
                  <a:srgbClr val="1769AA"/>
                </a:solidFill>
              </a:rPr>
              <a:t>5. Notificacao</a:t>
            </a:r>
          </a:p>
          <a:p>
            <a:pPr algn="l"/>
            <a:r>
              <a:rPr lang="pt-BR" sz="1700" typeface="Arial">
                <a:solidFill>
                  <a:srgbClr val="52616F"/>
                </a:solidFill>
              </a:rPr>
              <a:t>Template Method: e-mail, SMS, WhatsApp</a:t>
            </a:r>
          </a:p>
        </p:txBody>
      </p:sp>
      <p:sp>
        <p:nvSpPr>
          <p:cNvPr id="8" name="Texto"/>
          <p:cNvSpPr txBox="1"/>
          <p:nvPr/>
        </p:nvSpPr>
        <p:spPr>
          <a:xfrm>
            <a:off x="8092440" y="2788920"/>
            <a:ext cx="3566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2"/>
            </a:solidFill>
          </a:ln>
        </p:spPr>
        <p:txBody>
          <a:bodyPr wrap="square" anchor="mid"/>
          <a:lstStyle/>
          <a:p>
            <a:pPr algn="l"/>
            <a:r>
              <a:rPr lang="pt-BR" sz="2300" typeface="Arial" b="1">
                <a:solidFill>
                  <a:srgbClr val="1769AA"/>
                </a:solidFill>
              </a:rPr>
              <a:t>6. Pacotes</a:t>
            </a:r>
          </a:p>
          <a:p>
            <a:pPr algn="l"/>
            <a:r>
              <a:rPr lang="pt-BR" sz="1700" typeface="Arial">
                <a:solidFill>
                  <a:srgbClr val="52616F"/>
                </a:solidFill>
              </a:rPr>
              <a:t>Factory: foto, video, album</a:t>
            </a:r>
          </a:p>
        </p:txBody>
      </p:sp>
      <p:sp>
        <p:nvSpPr>
          <p:cNvPr id="9" name="Texto"/>
          <p:cNvSpPr txBox="1"/>
          <p:nvPr/>
        </p:nvSpPr>
        <p:spPr>
          <a:xfrm>
            <a:off x="1051560" y="4983480"/>
            <a:ext cx="10058400" cy="731520"/>
          </a:xfrm>
          <a:prstGeom prst="roundRect">
            <a:avLst/>
          </a:prstGeom>
          <a:solidFill>
            <a:srgbClr val="228B66"/>
          </a:solidFill>
          <a:ln w="12700">
            <a:solidFill>
              <a:srgbClr val="228B66"/>
            </a:solidFill>
          </a:ln>
        </p:spPr>
        <p:txBody>
          <a:bodyPr wrap="square" anchor="mid"/>
          <a:lstStyle/>
          <a:p>
            <a:pPr algn="ctr"/>
            <a:r>
              <a:rPr lang="pt-BR" sz="2300" typeface="Arial" b="1">
                <a:solidFill>
                  <a:srgbClr val="FFFFFF"/>
                </a:solidFill>
              </a:rPr>
              <a:t>Requisito minimo: 4 hot spots  |  Implementado: 6 hot spots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"/>
          <p:cNvSpPr txBox="1"/>
          <p:nvPr/>
        </p:nvSpPr>
        <p:spPr>
          <a:xfrm>
            <a:off x="411480" y="256032"/>
            <a:ext cx="11384280" cy="749808"/>
          </a:xfrm>
          <a:prstGeom prst="rect">
            <a:avLst/>
          </a:prstGeom>
          <a:solidFill>
            <a:srgbClr val="0E1B2A"/>
          </a:solidFill>
          <a:ln w="12700">
            <a:solidFill>
              <a:srgbClr val="0E1B2A"/>
            </a:solidFill>
          </a:ln>
        </p:spPr>
        <p:txBody>
          <a:bodyPr wrap="square" anchor="mid"/>
          <a:lstStyle/>
          <a:p>
            <a:pPr algn="ctr"/>
            <a:r>
              <a:rPr lang="pt-BR" sz="3200" typeface="Arial" b="1">
                <a:solidFill>
                  <a:srgbClr val="FFFFFF"/>
                </a:solidFill>
              </a:rPr>
              <a:t>Codigo: Hot Spot 2 - Pagamento</a:t>
            </a:r>
          </a:p>
          <a:p>
            <a:pPr algn="ctr"/>
            <a:r>
              <a:rPr lang="pt-BR" sz="1500" typeface="Arial">
                <a:solidFill>
                  <a:srgbClr val="DDEBFA"/>
                </a:solidFill>
              </a:rPr>
              <a:t>Template Method: frozen spot + hook abstrato</a:t>
            </a:r>
          </a:p>
        </p:txBody>
      </p:sp>
      <p:sp>
        <p:nvSpPr>
          <p:cNvPr id="3" name="Texto"/>
          <p:cNvSpPr txBox="1"/>
          <p:nvPr/>
        </p:nvSpPr>
        <p:spPr>
          <a:xfrm>
            <a:off x="594360" y="1234440"/>
            <a:ext cx="6492240" cy="4434840"/>
          </a:xfrm>
          <a:prstGeom prst="rect">
            <a:avLst/>
          </a:prstGeom>
          <a:solidFill>
            <a:srgbClr val="101820"/>
          </a:solidFill>
          <a:ln w="12700">
            <a:solidFill>
              <a:srgbClr val="263B50"/>
            </a:solidFill>
          </a:ln>
        </p:spPr>
        <p:txBody>
          <a:bodyPr wrap="square" anchor="t"/>
          <a:lstStyle/>
          <a:p>
            <a:pPr algn="l"/>
            <a:r>
              <a:rPr lang="pt-BR" sz="1300" typeface="Consolas">
                <a:solidFill>
                  <a:srgbClr val="FFD27A"/>
                </a:solidFill>
              </a:rPr>
              <a:t>public abstract class MeioPagamento {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/>
            </a:r>
          </a:p>
          <a:p>
            <a:pPr algn="l"/>
            <a:r>
              <a:rPr lang="pt-BR" sz="1300" typeface="Consolas">
                <a:solidFill>
                  <a:srgbClr val="9ED0A8"/>
                </a:solidFill>
              </a:rPr>
              <a:t>    // FROZEN SPOT: fluxo fixo, nao pode ser sobrescrito</a:t>
            </a:r>
          </a:p>
          <a:p>
            <a:pPr algn="l"/>
            <a:r>
              <a:rPr lang="pt-BR" sz="1300" typeface="Consolas">
                <a:solidFill>
                  <a:srgbClr val="FFD27A"/>
                </a:solidFill>
              </a:rPr>
              <a:t>    public final ReciboPagamento processar(Formando f, BigDecimal valor) {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        validar(f, valor);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        String comp = executarCobranca(f, valor); // HOT SPOT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        registrar(f, valor, comp);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        return new ReciboPagamento(f.getId(), valor, nome(), comp);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    }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/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    protected void validar(Formando f, BigDecimal valor) { ... }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    protected void registrar(Formando f, BigDecimal valor, String comp) { ... }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/>
            </a:r>
          </a:p>
          <a:p>
            <a:pPr algn="l"/>
            <a:r>
              <a:rPr lang="pt-BR" sz="1300" typeface="Consolas">
                <a:solidFill>
                  <a:srgbClr val="9ED0A8"/>
                </a:solidFill>
              </a:rPr>
              <a:t>    // passo variante obrigatorio</a:t>
            </a:r>
          </a:p>
          <a:p>
            <a:pPr algn="l"/>
            <a:r>
              <a:rPr lang="pt-BR" sz="1300" typeface="Consolas">
                <a:solidFill>
                  <a:srgbClr val="FFD27A"/>
                </a:solidFill>
              </a:rPr>
              <a:t>    protected abstract String executarCobranca(Formando f, BigDecimal valor);</a:t>
            </a:r>
          </a:p>
          <a:p>
            <a:pPr algn="l"/>
            <a:r>
              <a:rPr lang="pt-BR" sz="1300" typeface="Consolas">
                <a:solidFill>
                  <a:srgbClr val="FFD27A"/>
                </a:solidFill>
              </a:rPr>
              <a:t>    public abstract String nome();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}</a:t>
            </a:r>
          </a:p>
        </p:txBody>
      </p:sp>
      <p:sp>
        <p:nvSpPr>
          <p:cNvPr id="4" name="Texto"/>
          <p:cNvSpPr txBox="1"/>
          <p:nvPr/>
        </p:nvSpPr>
        <p:spPr>
          <a:xfrm>
            <a:off x="7360920" y="1554480"/>
            <a:ext cx="38862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2"/>
            </a:solidFill>
          </a:ln>
        </p:spPr>
        <p:txBody>
          <a:bodyPr wrap="square" anchor="mid"/>
          <a:lstStyle/>
          <a:p>
            <a:pPr algn="ctr"/>
            <a:r>
              <a:rPr lang="pt-BR" sz="2400" typeface="Arial" b="1">
                <a:solidFill>
                  <a:srgbClr val="1769AA"/>
                </a:solidFill>
              </a:rPr>
              <a:t>Como explicar</a:t>
            </a:r>
          </a:p>
          <a:p>
            <a:pPr marL="342900" indent="-171450">
              <a:buChar char="?"/>
            </a:pPr>
            <a:r>
              <a:rPr lang="pt-BR" sz="1800">
                <a:solidFill>
                  <a:srgbClr val="102033"/>
                </a:solidFill>
              </a:rPr>
              <a:t>processar() e final: parte invariante</a:t>
            </a:r>
          </a:p>
          <a:p>
            <a:pPr marL="342900" indent="-171450">
              <a:buChar char="?"/>
            </a:pPr>
            <a:r>
              <a:rPr lang="pt-BR" sz="1800">
                <a:solidFill>
                  <a:srgbClr val="102033"/>
                </a:solidFill>
              </a:rPr>
              <a:t>executarCobranca() e abstract: hot spot</a:t>
            </a:r>
          </a:p>
          <a:p>
            <a:pPr marL="342900" indent="-171450">
              <a:buChar char="?"/>
            </a:pPr>
            <a:r>
              <a:rPr lang="pt-BR" sz="1800">
                <a:solidFill>
                  <a:srgbClr val="102033"/>
                </a:solidFill>
              </a:rPr>
              <a:t>O framework chama o codigo concreto: inversao de controle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"/>
          <p:cNvSpPr txBox="1"/>
          <p:nvPr/>
        </p:nvSpPr>
        <p:spPr>
          <a:xfrm>
            <a:off x="411480" y="256032"/>
            <a:ext cx="11384280" cy="749808"/>
          </a:xfrm>
          <a:prstGeom prst="rect">
            <a:avLst/>
          </a:prstGeom>
          <a:solidFill>
            <a:srgbClr val="0E1B2A"/>
          </a:solidFill>
          <a:ln w="12700">
            <a:solidFill>
              <a:srgbClr val="0E1B2A"/>
            </a:solidFill>
          </a:ln>
        </p:spPr>
        <p:txBody>
          <a:bodyPr wrap="square" anchor="mid"/>
          <a:lstStyle/>
          <a:p>
            <a:pPr algn="ctr"/>
            <a:r>
              <a:rPr lang="pt-BR" sz="3200" typeface="Arial" b="1">
                <a:solidFill>
                  <a:srgbClr val="FFFFFF"/>
                </a:solidFill>
              </a:rPr>
              <a:t>Codigo: Implementacoes do Pagamento</a:t>
            </a:r>
          </a:p>
          <a:p>
            <a:pPr algn="ctr"/>
            <a:r>
              <a:rPr lang="pt-BR" sz="1500" typeface="Arial">
                <a:solidFill>
                  <a:srgbClr val="DDEBFA"/>
                </a:solidFill>
              </a:rPr>
              <a:t>Mesmo fluxo, cobrancas diferentes</a:t>
            </a:r>
          </a:p>
        </p:txBody>
      </p:sp>
      <p:sp>
        <p:nvSpPr>
          <p:cNvPr id="3" name="Texto"/>
          <p:cNvSpPr txBox="1"/>
          <p:nvPr/>
        </p:nvSpPr>
        <p:spPr>
          <a:xfrm>
            <a:off x="502920" y="1234440"/>
            <a:ext cx="5440680" cy="4526280"/>
          </a:xfrm>
          <a:prstGeom prst="rect">
            <a:avLst/>
          </a:prstGeom>
          <a:solidFill>
            <a:srgbClr val="101820"/>
          </a:solidFill>
          <a:ln w="12700">
            <a:solidFill>
              <a:srgbClr val="263B50"/>
            </a:solidFill>
          </a:ln>
        </p:spPr>
        <p:txBody>
          <a:bodyPr wrap="square" anchor="t"/>
          <a:lstStyle/>
          <a:p>
            <a:pPr algn="l"/>
            <a:r>
              <a:rPr lang="pt-BR" sz="1300" typeface="Consolas">
                <a:solidFill>
                  <a:srgbClr val="EAF2FA"/>
                </a:solidFill>
              </a:rPr>
              <a:t>public class PagamentoPix extends MeioPagamento {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    @Override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    protected String executarCobranca(Formando f, BigDecimal v) {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        String txid = "PIX-" + UUID.randomUUID()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             .toString().substring(0, 8).toUpperCase();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        return txid;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    }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/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    @Override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    public String nome() { return "Pix"; }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}</a:t>
            </a:r>
          </a:p>
        </p:txBody>
      </p:sp>
      <p:sp>
        <p:nvSpPr>
          <p:cNvPr id="4" name="Texto"/>
          <p:cNvSpPr txBox="1"/>
          <p:nvPr/>
        </p:nvSpPr>
        <p:spPr>
          <a:xfrm>
            <a:off x="6217920" y="1234440"/>
            <a:ext cx="5440680" cy="4526280"/>
          </a:xfrm>
          <a:prstGeom prst="rect">
            <a:avLst/>
          </a:prstGeom>
          <a:solidFill>
            <a:srgbClr val="101820"/>
          </a:solidFill>
          <a:ln w="12700">
            <a:solidFill>
              <a:srgbClr val="263B50"/>
            </a:solidFill>
          </a:ln>
        </p:spPr>
        <p:txBody>
          <a:bodyPr wrap="square" anchor="t"/>
          <a:lstStyle/>
          <a:p>
            <a:pPr algn="l"/>
            <a:r>
              <a:rPr lang="pt-BR" sz="1200" typeface="Consolas">
                <a:solidFill>
                  <a:srgbClr val="EAF2FA"/>
                </a:solidFill>
              </a:rPr>
              <a:t>public class PagamentoBoleto extends MeioPagamento {</a:t>
            </a:r>
          </a:p>
          <a:p>
            <a:pPr algn="l"/>
            <a:r>
              <a:rPr lang="pt-BR" sz="1200" typeface="Consolas">
                <a:solidFill>
                  <a:srgbClr val="FFD27A"/>
                </a:solidFill>
              </a:rPr>
              <a:t>    private static final BigDecimal MIN = new BigDecimal("5.00");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/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@Override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protected void validar(Formando f, BigDecimal valor) {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    super.validar(f, valor);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    if (valor.compareTo(MIN) &lt; 0) throw new IllegalArgumentException();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}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/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@Override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protected String executarCobranca(Formando f, BigDecimal v) {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    return "BOLETO-" + numeroAleatorio();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}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"/>
          <p:cNvSpPr txBox="1"/>
          <p:nvPr/>
        </p:nvSpPr>
        <p:spPr>
          <a:xfrm>
            <a:off x="411480" y="256032"/>
            <a:ext cx="11384280" cy="749808"/>
          </a:xfrm>
          <a:prstGeom prst="rect">
            <a:avLst/>
          </a:prstGeom>
          <a:solidFill>
            <a:srgbClr val="0E1B2A"/>
          </a:solidFill>
          <a:ln w="12700">
            <a:solidFill>
              <a:srgbClr val="0E1B2A"/>
            </a:solidFill>
          </a:ln>
        </p:spPr>
        <p:txBody>
          <a:bodyPr wrap="square" anchor="mid"/>
          <a:lstStyle/>
          <a:p>
            <a:pPr algn="ctr"/>
            <a:r>
              <a:rPr lang="pt-BR" sz="3200" typeface="Arial" b="1">
                <a:solidFill>
                  <a:srgbClr val="FFFFFF"/>
                </a:solidFill>
              </a:rPr>
              <a:t>Codigo: Hot Spot 1 - Rateio</a:t>
            </a:r>
          </a:p>
          <a:p>
            <a:pPr algn="ctr"/>
            <a:r>
              <a:rPr lang="pt-BR" sz="1500" typeface="Arial">
                <a:solidFill>
                  <a:srgbClr val="DDEBFA"/>
                </a:solidFill>
              </a:rPr>
              <a:t>Strategy: troca de algoritmo sem alterar o framework</a:t>
            </a:r>
          </a:p>
        </p:txBody>
      </p:sp>
      <p:sp>
        <p:nvSpPr>
          <p:cNvPr id="3" name="Texto"/>
          <p:cNvSpPr txBox="1"/>
          <p:nvPr/>
        </p:nvSpPr>
        <p:spPr>
          <a:xfrm>
            <a:off x="502920" y="1234440"/>
            <a:ext cx="5212080" cy="4526280"/>
          </a:xfrm>
          <a:prstGeom prst="rect">
            <a:avLst/>
          </a:prstGeom>
          <a:solidFill>
            <a:srgbClr val="101820"/>
          </a:solidFill>
          <a:ln w="12700">
            <a:solidFill>
              <a:srgbClr val="263B50"/>
            </a:solidFill>
          </a:ln>
        </p:spPr>
        <p:txBody>
          <a:bodyPr wrap="square" anchor="t"/>
          <a:lstStyle/>
          <a:p>
            <a:pPr algn="l"/>
            <a:r>
              <a:rPr lang="pt-BR" sz="1200" typeface="Consolas">
                <a:solidFill>
                  <a:srgbClr val="FFD27A"/>
                </a:solidFill>
              </a:rPr>
              <a:t>public interface EstrategiaRateio {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Map&lt;Formando, BigDecimal&gt; calcular(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    Turma turma, BigDecimal custoTotal);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/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String nome();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}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/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public class RateioIgualitario implements EstrategiaRateio {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public Map&lt;Formando, BigDecimal&gt; calcular(Turma t, BigDecimal custo) {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    BigDecimal cota = custo.divide(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        BigDecimal.valueOf(t.tamanho()), 2, HALF_UP);</a:t>
            </a:r>
          </a:p>
          <a:p>
            <a:pPr algn="l"/>
            <a:r>
              <a:rPr lang="pt-BR" sz="1200" typeface="Consolas">
                <a:solidFill>
                  <a:srgbClr val="9ED0A8"/>
                </a:solidFill>
              </a:rPr>
              <a:t>        // todos recebem a mesma cota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}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}</a:t>
            </a:r>
          </a:p>
        </p:txBody>
      </p:sp>
      <p:sp>
        <p:nvSpPr>
          <p:cNvPr id="4" name="Texto"/>
          <p:cNvSpPr txBox="1"/>
          <p:nvPr/>
        </p:nvSpPr>
        <p:spPr>
          <a:xfrm>
            <a:off x="5989320" y="1234440"/>
            <a:ext cx="5440680" cy="4526280"/>
          </a:xfrm>
          <a:prstGeom prst="rect">
            <a:avLst/>
          </a:prstGeom>
          <a:solidFill>
            <a:srgbClr val="101820"/>
          </a:solidFill>
          <a:ln w="12700">
            <a:solidFill>
              <a:srgbClr val="263B50"/>
            </a:solidFill>
          </a:ln>
        </p:spPr>
        <p:txBody>
          <a:bodyPr wrap="square" anchor="t"/>
          <a:lstStyle/>
          <a:p>
            <a:pPr algn="l"/>
            <a:r>
              <a:rPr lang="pt-BR" sz="1200" typeface="Consolas">
                <a:solidFill>
                  <a:srgbClr val="EAF2FA"/>
                </a:solidFill>
              </a:rPr>
              <a:t>public class RateioProporcionalRenda implements EstrategiaRateio {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public Map&lt;Formando, BigDecimal&gt; calcular(Turma t, BigDecimal custo) {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    double soma = somaDasRendas(t);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/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    for (Formando f : t.getFormandos()) {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        double fracao = f.getRendaDeclarada() / soma;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        BigDecimal valor = custo.multiply(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            BigDecimal.valueOf(fracao)).setScale(2, HALF_UP);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        resultado.put(f, valor);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    }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    return resultado;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}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"/>
          <p:cNvSpPr txBox="1"/>
          <p:nvPr/>
        </p:nvSpPr>
        <p:spPr>
          <a:xfrm>
            <a:off x="411480" y="256032"/>
            <a:ext cx="11384280" cy="749808"/>
          </a:xfrm>
          <a:prstGeom prst="rect">
            <a:avLst/>
          </a:prstGeom>
          <a:solidFill>
            <a:srgbClr val="0E1B2A"/>
          </a:solidFill>
          <a:ln w="12700">
            <a:solidFill>
              <a:srgbClr val="0E1B2A"/>
            </a:solidFill>
          </a:ln>
        </p:spPr>
        <p:txBody>
          <a:bodyPr wrap="square" anchor="mid"/>
          <a:lstStyle/>
          <a:p>
            <a:pPr algn="ctr"/>
            <a:r>
              <a:rPr lang="pt-BR" sz="3200" typeface="Arial" b="1">
                <a:solidFill>
                  <a:srgbClr val="FFFFFF"/>
                </a:solidFill>
              </a:rPr>
              <a:t>Codigo: Parte Invariante</a:t>
            </a:r>
          </a:p>
          <a:p>
            <a:pPr algn="ctr"/>
            <a:r>
              <a:rPr lang="pt-BR" sz="1500" typeface="Arial">
                <a:solidFill>
                  <a:srgbClr val="DDEBFA"/>
                </a:solidFill>
              </a:rPr>
              <a:t>GestorFormatura orquestra os hot spots</a:t>
            </a:r>
          </a:p>
        </p:txBody>
      </p:sp>
      <p:sp>
        <p:nvSpPr>
          <p:cNvPr id="3" name="Texto"/>
          <p:cNvSpPr txBox="1"/>
          <p:nvPr/>
        </p:nvSpPr>
        <p:spPr>
          <a:xfrm>
            <a:off x="548640" y="1234440"/>
            <a:ext cx="6583680" cy="4526280"/>
          </a:xfrm>
          <a:prstGeom prst="rect">
            <a:avLst/>
          </a:prstGeom>
          <a:solidFill>
            <a:srgbClr val="101820"/>
          </a:solidFill>
          <a:ln w="12700">
            <a:solidFill>
              <a:srgbClr val="263B50"/>
            </a:solidFill>
          </a:ln>
        </p:spPr>
        <p:txBody>
          <a:bodyPr wrap="square" anchor="t"/>
          <a:lstStyle/>
          <a:p>
            <a:pPr algn="l"/>
            <a:r>
              <a:rPr lang="pt-BR" sz="1200" typeface="Consolas">
                <a:solidFill>
                  <a:srgbClr val="EAF2FA"/>
                </a:solidFill>
              </a:rPr>
              <a:t>public class GestorFormatura {</a:t>
            </a:r>
          </a:p>
          <a:p>
            <a:pPr algn="l"/>
            <a:r>
              <a:rPr lang="pt-BR" sz="1200" typeface="Consolas">
                <a:solidFill>
                  <a:srgbClr val="FFD27A"/>
                </a:solidFill>
              </a:rPr>
              <a:t>    private final Turma turma;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private EstrategiaRateio estrategiaRateio;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private RegraVotacao regraVotacao;</a:t>
            </a:r>
          </a:p>
          <a:p>
            <a:pPr algn="l"/>
            <a:r>
              <a:rPr lang="pt-BR" sz="1200" typeface="Consolas">
                <a:solidFill>
                  <a:srgbClr val="FFD27A"/>
                </a:solidFill>
              </a:rPr>
              <a:t>    private final List&lt;CanalNotificacao&gt; canais = new ArrayList&lt;&gt;();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/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public GestorFormatura comRateio(EstrategiaRateio e) {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    this.estrategiaRateio = e;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    return this;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}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/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public Map&lt;Formando, BigDecimal&gt; ratear(BigDecimal custoTotal) {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    return estrategiaRateio.calcular(turma, custoTotal);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}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/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public Cronograma organizarEvento(Evento evento) {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    return evento.organizar(turma);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    }</a:t>
            </a:r>
          </a:p>
          <a:p>
            <a:pPr algn="l"/>
            <a:r>
              <a:rPr lang="pt-BR" sz="1200" typeface="Consolas">
                <a:solidFill>
                  <a:srgbClr val="EAF2FA"/>
                </a:solidFill>
              </a:rPr>
              <a:t>}</a:t>
            </a:r>
          </a:p>
        </p:txBody>
      </p:sp>
      <p:sp>
        <p:nvSpPr>
          <p:cNvPr id="4" name="Texto"/>
          <p:cNvSpPr txBox="1"/>
          <p:nvPr/>
        </p:nvSpPr>
        <p:spPr>
          <a:xfrm>
            <a:off x="7360920" y="1508760"/>
            <a:ext cx="3886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2"/>
            </a:solidFill>
          </a:ln>
        </p:spPr>
        <p:txBody>
          <a:bodyPr wrap="square" anchor="mid"/>
          <a:lstStyle/>
          <a:p>
            <a:pPr algn="ctr"/>
            <a:r>
              <a:rPr lang="pt-BR" sz="2400" typeface="Arial" b="1">
                <a:solidFill>
                  <a:srgbClr val="1769AA"/>
                </a:solidFill>
              </a:rPr>
              <a:t>Ponto para falar</a:t>
            </a:r>
          </a:p>
          <a:p>
            <a:pPr marL="342900" indent="-171450">
              <a:buChar char="?"/>
            </a:pPr>
            <a:r>
              <a:rPr lang="pt-BR" sz="1800">
                <a:solidFill>
                  <a:srgbClr val="102033"/>
                </a:solidFill>
              </a:rPr>
              <a:t>O gestor conhece o fluxo geral</a:t>
            </a:r>
          </a:p>
          <a:p>
            <a:pPr marL="342900" indent="-171450">
              <a:buChar char="?"/>
            </a:pPr>
            <a:r>
              <a:rPr lang="pt-BR" sz="1800">
                <a:solidFill>
                  <a:srgbClr val="102033"/>
                </a:solidFill>
              </a:rPr>
              <a:t>As decisoes variaveis sao injetadas por composicao</a:t>
            </a:r>
          </a:p>
          <a:p>
            <a:pPr marL="342900" indent="-171450">
              <a:buChar char="?"/>
            </a:pPr>
            <a:r>
              <a:rPr lang="pt-BR" sz="1800">
                <a:solidFill>
                  <a:srgbClr val="102033"/>
                </a:solidFill>
              </a:rPr>
              <a:t>A aplicacao pluga estrategias, eventos e canais</a:t>
            </a:r>
          </a:p>
          <a:p>
            <a:pPr marL="342900" indent="-171450">
              <a:buChar char="?"/>
            </a:pPr>
            <a:r>
              <a:rPr lang="pt-BR" sz="1800">
                <a:solidFill>
                  <a:srgbClr val="102033"/>
                </a:solidFill>
              </a:rPr>
              <a:t>Isso demonstra reuso em caixa-preta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"/>
          <p:cNvSpPr txBox="1"/>
          <p:nvPr/>
        </p:nvSpPr>
        <p:spPr>
          <a:xfrm>
            <a:off x="411480" y="256032"/>
            <a:ext cx="11384280" cy="749808"/>
          </a:xfrm>
          <a:prstGeom prst="rect">
            <a:avLst/>
          </a:prstGeom>
          <a:solidFill>
            <a:srgbClr val="0E1B2A"/>
          </a:solidFill>
          <a:ln w="12700">
            <a:solidFill>
              <a:srgbClr val="0E1B2A"/>
            </a:solidFill>
          </a:ln>
        </p:spPr>
        <p:txBody>
          <a:bodyPr wrap="square" anchor="mid"/>
          <a:lstStyle/>
          <a:p>
            <a:pPr algn="ctr"/>
            <a:r>
              <a:rPr lang="pt-BR" sz="3200" typeface="Arial" b="1">
                <a:solidFill>
                  <a:srgbClr val="FFFFFF"/>
                </a:solidFill>
              </a:rPr>
              <a:t>Codigo: Prova de Reuso</a:t>
            </a:r>
          </a:p>
          <a:p>
            <a:pPr algn="ctr"/>
            <a:r>
              <a:rPr lang="pt-BR" sz="1500" typeface="Arial">
                <a:solidFill>
                  <a:srgbClr val="DDEBFA"/>
                </a:solidFill>
              </a:rPr>
              <a:t>Duas aplicacoes usando o mesmo nucleo</a:t>
            </a:r>
          </a:p>
        </p:txBody>
      </p:sp>
      <p:sp>
        <p:nvSpPr>
          <p:cNvPr id="3" name="Texto"/>
          <p:cNvSpPr txBox="1"/>
          <p:nvPr/>
        </p:nvSpPr>
        <p:spPr>
          <a:xfrm>
            <a:off x="502920" y="1234440"/>
            <a:ext cx="5440680" cy="4526280"/>
          </a:xfrm>
          <a:prstGeom prst="rect">
            <a:avLst/>
          </a:prstGeom>
          <a:solidFill>
            <a:srgbClr val="101820"/>
          </a:solidFill>
          <a:ln w="12700">
            <a:solidFill>
              <a:srgbClr val="263B50"/>
            </a:solidFill>
          </a:ln>
        </p:spPr>
        <p:txBody>
          <a:bodyPr wrap="square" anchor="t"/>
          <a:lstStyle/>
          <a:p>
            <a:pPr algn="l"/>
            <a:r>
              <a:rPr lang="pt-BR" sz="1300" typeface="Consolas">
                <a:solidFill>
                  <a:srgbClr val="9ED0A8"/>
                </a:solidFill>
              </a:rPr>
              <a:t>// Aplicacao 1: Medicina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GestorFormatura gestor = new GestorFormatura(turma)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    .comRateio(new RateioIgualitario())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    .comRegraVotacao(new QuorumQualificado(0.5, 0.6))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    .comCanal(new CanalEmail());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/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gestor.ratear(new BigDecimal("30000.00"));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gestor.organizarEvento(new ColacaoGrau());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gestor.receberPagamento(ana, valor, new PagamentoPix());</a:t>
            </a:r>
          </a:p>
        </p:txBody>
      </p:sp>
      <p:sp>
        <p:nvSpPr>
          <p:cNvPr id="4" name="Texto"/>
          <p:cNvSpPr txBox="1"/>
          <p:nvPr/>
        </p:nvSpPr>
        <p:spPr>
          <a:xfrm>
            <a:off x="6217920" y="1234440"/>
            <a:ext cx="5440680" cy="4526280"/>
          </a:xfrm>
          <a:prstGeom prst="rect">
            <a:avLst/>
          </a:prstGeom>
          <a:solidFill>
            <a:srgbClr val="101820"/>
          </a:solidFill>
          <a:ln w="12700">
            <a:solidFill>
              <a:srgbClr val="263B50"/>
            </a:solidFill>
          </a:ln>
        </p:spPr>
        <p:txBody>
          <a:bodyPr wrap="square" anchor="t"/>
          <a:lstStyle/>
          <a:p>
            <a:pPr algn="l"/>
            <a:r>
              <a:rPr lang="pt-BR" sz="1300" typeface="Consolas">
                <a:solidFill>
                  <a:srgbClr val="9ED0A8"/>
                </a:solidFill>
              </a:rPr>
              <a:t>// Aplicacao 2: Engenharia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GestorFormatura gestor = new GestorFormatura(turma)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    .comRateio(new RateioPorAdesao())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    .comRegraVotacao(new MaioriaSimples())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    .comCanal(new CanalWhatsApp());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/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gestor.ratear(new BigDecimal("20000.00"));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gestor.organizarEvento(new BaileFormatura());</a:t>
            </a:r>
          </a:p>
          <a:p>
            <a:pPr algn="l"/>
            <a:r>
              <a:rPr lang="pt-BR" sz="1300" typeface="Consolas">
                <a:solidFill>
                  <a:srgbClr val="EAF2FA"/>
                </a:solidFill>
              </a:rPr>
              <a:t>gestor.receberPagamento(diego, valor, new PagamentoBoleto());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"/>
          <p:cNvSpPr txBox="1"/>
          <p:nvPr/>
        </p:nvSpPr>
        <p:spPr>
          <a:xfrm>
            <a:off x="411480" y="256032"/>
            <a:ext cx="11384280" cy="749808"/>
          </a:xfrm>
          <a:prstGeom prst="rect">
            <a:avLst/>
          </a:prstGeom>
          <a:solidFill>
            <a:srgbClr val="0E1B2A"/>
          </a:solidFill>
          <a:ln w="12700">
            <a:solidFill>
              <a:srgbClr val="0E1B2A"/>
            </a:solidFill>
          </a:ln>
        </p:spPr>
        <p:txBody>
          <a:bodyPr wrap="square" anchor="mid"/>
          <a:lstStyle/>
          <a:p>
            <a:pPr algn="ctr"/>
            <a:r>
              <a:rPr lang="pt-BR" sz="3200" typeface="Arial" b="1">
                <a:solidFill>
                  <a:srgbClr val="FFFFFF"/>
                </a:solidFill>
              </a:rPr>
              <a:t>Demonstracao ao vivo</a:t>
            </a:r>
          </a:p>
          <a:p>
            <a:pPr algn="ctr"/>
            <a:r>
              <a:rPr lang="pt-BR" sz="1500" typeface="Arial">
                <a:solidFill>
                  <a:srgbClr val="DDEBFA"/>
                </a:solidFill>
              </a:rPr>
              <a:t>localhost:5174 + gateway em localhost:8080</a:t>
            </a:r>
          </a:p>
        </p:txBody>
      </p:sp>
      <p:sp>
        <p:nvSpPr>
          <p:cNvPr id="3" name="Texto"/>
          <p:cNvSpPr txBox="1"/>
          <p:nvPr/>
        </p:nvSpPr>
        <p:spPr>
          <a:xfrm>
            <a:off x="685800" y="1234440"/>
            <a:ext cx="5166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2"/>
            </a:solidFill>
          </a:ln>
        </p:spPr>
        <p:txBody>
          <a:bodyPr wrap="square" anchor="mid"/>
          <a:lstStyle/>
          <a:p>
            <a:pPr algn="l"/>
            <a:r>
              <a:rPr lang="pt-BR" sz="2400" typeface="Arial" b="1">
                <a:solidFill>
                  <a:srgbClr val="1769AA"/>
                </a:solidFill>
              </a:rPr>
              <a:t>Sequencia recomendada</a:t>
            </a:r>
          </a:p>
          <a:p>
            <a:pPr marL="342900" indent="-171450">
              <a:buChar char="?"/>
            </a:pPr>
            <a:r>
              <a:rPr lang="pt-BR" sz="1800">
                <a:solidFill>
                  <a:srgbClr val="102033"/>
                </a:solidFill>
              </a:rPr>
              <a:t>Mostrar docker compose ps com todos Up</a:t>
            </a:r>
          </a:p>
          <a:p>
            <a:pPr marL="342900" indent="-171450">
              <a:buChar char="?"/>
            </a:pPr>
            <a:r>
              <a:rPr lang="pt-BR" sz="1800">
                <a:solidFill>
                  <a:srgbClr val="102033"/>
                </a:solidFill>
              </a:rPr>
              <a:t>Rateio: igualitario -&gt; renda</a:t>
            </a:r>
          </a:p>
          <a:p>
            <a:pPr marL="342900" indent="-171450">
              <a:buChar char="?"/>
            </a:pPr>
            <a:r>
              <a:rPr lang="pt-BR" sz="1800">
                <a:solidFill>
                  <a:srgbClr val="102033"/>
                </a:solidFill>
              </a:rPr>
              <a:t>Pagamento: Pix -&gt; Boleto</a:t>
            </a:r>
          </a:p>
          <a:p>
            <a:pPr marL="342900" indent="-171450">
              <a:buChar char="?"/>
            </a:pPr>
            <a:r>
              <a:rPr lang="pt-BR" sz="1800">
                <a:solidFill>
                  <a:srgbClr val="102033"/>
                </a:solidFill>
              </a:rPr>
              <a:t>Evento: Colacao -&gt; Baile</a:t>
            </a:r>
          </a:p>
          <a:p>
            <a:pPr marL="342900" indent="-171450">
              <a:buChar char="?"/>
            </a:pPr>
            <a:r>
              <a:rPr lang="pt-BR" sz="1800">
                <a:solidFill>
                  <a:srgbClr val="102033"/>
                </a:solidFill>
              </a:rPr>
              <a:t>Votacao: maioria -&gt; quorum</a:t>
            </a:r>
          </a:p>
          <a:p>
            <a:pPr marL="342900" indent="-171450">
              <a:buChar char="?"/>
            </a:pPr>
            <a:r>
              <a:rPr lang="pt-BR" sz="1800">
                <a:solidFill>
                  <a:srgbClr val="102033"/>
                </a:solidFill>
              </a:rPr>
              <a:t>Notificacao: e-mail -&gt; WhatsApp</a:t>
            </a:r>
          </a:p>
          <a:p>
            <a:pPr marL="342900" indent="-171450">
              <a:buChar char="?"/>
            </a:pPr>
            <a:r>
              <a:rPr lang="pt-BR" sz="1800">
                <a:solidFill>
                  <a:srgbClr val="102033"/>
                </a:solidFill>
              </a:rPr>
              <a:t>Pacotes: foto, video e album</a:t>
            </a:r>
          </a:p>
        </p:txBody>
      </p:sp>
      <p:sp>
        <p:nvSpPr>
          <p:cNvPr id="4" name="Texto"/>
          <p:cNvSpPr txBox="1"/>
          <p:nvPr/>
        </p:nvSpPr>
        <p:spPr>
          <a:xfrm>
            <a:off x="6263640" y="1554480"/>
            <a:ext cx="4572000" cy="329184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E8C37C"/>
            </a:solidFill>
          </a:ln>
        </p:spPr>
        <p:txBody>
          <a:bodyPr wrap="square" anchor="mid"/>
          <a:lstStyle/>
          <a:p>
            <a:pPr algn="ctr"/>
            <a:r>
              <a:rPr lang="pt-BR" sz="2600" typeface="Arial" b="1">
                <a:solidFill>
                  <a:srgbClr val="C98118"/>
                </a:solidFill>
              </a:rPr>
              <a:t>Momento-chave</a:t>
            </a:r>
          </a:p>
          <a:p>
            <a:pPr algn="ctr"/>
            <a:r>
              <a:rPr lang="pt-BR" sz="2400" typeface="Arial" b="1">
                <a:solidFill>
                  <a:srgbClr val="102033"/>
                </a:solidFill>
              </a:rPr>
              <a:t>Trocar a implementacao do hot spot e mostrar o resultado mudando sem alterar o framework.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"/>
          <p:cNvSpPr txBox="1"/>
          <p:nvPr/>
        </p:nvSpPr>
        <p:spPr>
          <a:xfrm>
            <a:off x="411480" y="256032"/>
            <a:ext cx="11384280" cy="749808"/>
          </a:xfrm>
          <a:prstGeom prst="rect">
            <a:avLst/>
          </a:prstGeom>
          <a:solidFill>
            <a:srgbClr val="0E1B2A"/>
          </a:solidFill>
          <a:ln w="12700">
            <a:solidFill>
              <a:srgbClr val="0E1B2A"/>
            </a:solidFill>
          </a:ln>
        </p:spPr>
        <p:txBody>
          <a:bodyPr wrap="square" anchor="mid"/>
          <a:lstStyle/>
          <a:p>
            <a:pPr algn="ctr"/>
            <a:r>
              <a:rPr lang="pt-BR" sz="3200" typeface="Arial" b="1">
                <a:solidFill>
                  <a:srgbClr val="FFFFFF"/>
                </a:solidFill>
              </a:rPr>
              <a:t>Testes e encerramento</a:t>
            </a:r>
          </a:p>
          <a:p>
            <a:pPr algn="ctr"/>
            <a:r>
              <a:rPr lang="pt-BR" sz="1500" typeface="Arial">
                <a:solidFill>
                  <a:srgbClr val="DDEBFA"/>
                </a:solidFill>
              </a:rPr>
              <a:t>Validacao do framework e da integracao</a:t>
            </a:r>
          </a:p>
        </p:txBody>
      </p:sp>
      <p:sp>
        <p:nvSpPr>
          <p:cNvPr id="3" name="Texto"/>
          <p:cNvSpPr txBox="1"/>
          <p:nvPr/>
        </p:nvSpPr>
        <p:spPr>
          <a:xfrm>
            <a:off x="685800" y="1280160"/>
            <a:ext cx="5577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2"/>
            </a:solidFill>
          </a:ln>
        </p:spPr>
        <p:txBody>
          <a:bodyPr wrap="square" anchor="mid"/>
          <a:lstStyle/>
          <a:p>
            <a:pPr algn="l"/>
            <a:r>
              <a:rPr lang="pt-BR" sz="2400" typeface="Arial" b="1">
                <a:solidFill>
                  <a:srgbClr val="1769AA"/>
                </a:solidFill>
              </a:rPr>
              <a:t>Resultados validados</a:t>
            </a:r>
          </a:p>
          <a:p>
            <a:pPr marL="342900" indent="-171450">
              <a:buChar char="?"/>
            </a:pPr>
            <a:r>
              <a:rPr lang="pt-BR" sz="1800">
                <a:solidFill>
                  <a:srgbClr val="102033"/>
                </a:solidFill>
              </a:rPr>
              <a:t>Rateio igualitario: R$ 30.000 / 3 = R$ 10.000</a:t>
            </a:r>
          </a:p>
          <a:p>
            <a:pPr marL="342900" indent="-171450">
              <a:buChar char="?"/>
            </a:pPr>
            <a:r>
              <a:rPr lang="pt-BR" sz="1800">
                <a:solidFill>
                  <a:srgbClr val="102033"/>
                </a:solidFill>
              </a:rPr>
              <a:t>Rateio por renda: valores proporcionais</a:t>
            </a:r>
          </a:p>
          <a:p>
            <a:pPr marL="342900" indent="-171450">
              <a:buChar char="?"/>
            </a:pPr>
            <a:r>
              <a:rPr lang="pt-BR" sz="1800">
                <a:solidFill>
                  <a:srgbClr val="102033"/>
                </a:solidFill>
              </a:rPr>
              <a:t>Baile: R$ 8.360 pelo Template Method</a:t>
            </a:r>
          </a:p>
          <a:p>
            <a:pPr marL="342900" indent="-171450">
              <a:buChar char="?"/>
            </a:pPr>
            <a:r>
              <a:rPr lang="pt-BR" sz="1800">
                <a:solidFill>
                  <a:srgbClr val="102033"/>
                </a:solidFill>
              </a:rPr>
              <a:t>Quorum qualificado aprovado</a:t>
            </a:r>
          </a:p>
          <a:p>
            <a:pPr marL="342900" indent="-171450">
              <a:buChar char="?"/>
            </a:pPr>
            <a:r>
              <a:rPr lang="pt-BR" sz="1800">
                <a:solidFill>
                  <a:srgbClr val="102033"/>
                </a:solidFill>
              </a:rPr>
              <a:t>Gateway roteando para os microservicos</a:t>
            </a:r>
          </a:p>
          <a:p>
            <a:pPr marL="342900" indent="-171450">
              <a:buChar char="?"/>
            </a:pPr>
            <a:r>
              <a:rPr lang="pt-BR" sz="1800">
                <a:solidFill>
                  <a:srgbClr val="102033"/>
                </a:solidFill>
              </a:rPr>
              <a:t>Build do frontend sem erros</a:t>
            </a:r>
          </a:p>
        </p:txBody>
      </p:sp>
      <p:sp>
        <p:nvSpPr>
          <p:cNvPr id="4" name="Texto"/>
          <p:cNvSpPr txBox="1"/>
          <p:nvPr/>
        </p:nvSpPr>
        <p:spPr>
          <a:xfrm>
            <a:off x="6629400" y="1417320"/>
            <a:ext cx="4389120" cy="3611880"/>
          </a:xfrm>
          <a:prstGeom prst="roundRect">
            <a:avLst/>
          </a:prstGeom>
          <a:solidFill>
            <a:srgbClr val="EEF7F3"/>
          </a:solidFill>
          <a:ln w="12700">
            <a:solidFill>
              <a:srgbClr val="B8DCCB"/>
            </a:solidFill>
          </a:ln>
        </p:spPr>
        <p:txBody>
          <a:bodyPr wrap="square" anchor="mid"/>
          <a:lstStyle/>
          <a:p>
            <a:pPr algn="ctr"/>
            <a:r>
              <a:rPr lang="pt-BR" sz="2500" typeface="Arial" b="1">
                <a:solidFill>
                  <a:srgbClr val="228B66"/>
                </a:solidFill>
              </a:rPr>
              <a:t>Resumo final</a:t>
            </a:r>
          </a:p>
          <a:p>
            <a:pPr algn="ctr"/>
            <a:r>
              <a:rPr lang="pt-BR" sz="2300" typeface="Arial" b="1">
                <a:solidFill>
                  <a:srgbClr val="102033"/>
                </a:solidFill>
              </a:rPr>
              <a:t>Framework de dominio com 6 hot spots, microservicos, componentes reutilizaveis e inversao de controle.</a:t>
            </a:r>
          </a:p>
        </p:txBody>
      </p:sp>
      <p:sp>
        <p:nvSpPr>
          <p:cNvPr id="5" name="Texto"/>
          <p:cNvSpPr txBox="1"/>
          <p:nvPr/>
        </p:nvSpPr>
        <p:spPr>
          <a:xfrm>
            <a:off x="6949440" y="5166360"/>
            <a:ext cx="3749039" cy="502920"/>
          </a:xfrm>
          <a:prstGeom prst="roundRect">
            <a:avLst/>
          </a:prstGeom>
          <a:solidFill>
            <a:srgbClr val="0E1B2A"/>
          </a:solidFill>
          <a:ln w="12700">
            <a:solidFill>
              <a:srgbClr val="0E1B2A"/>
            </a:solidFill>
          </a:ln>
        </p:spPr>
        <p:txBody>
          <a:bodyPr wrap="square" anchor="mid"/>
          <a:lstStyle/>
          <a:p>
            <a:pPr algn="ctr"/>
            <a:r>
              <a:rPr lang="pt-BR" sz="2400" typeface="Arial" b="1">
                <a:solidFill>
                  <a:srgbClr val="FFFFFF"/>
                </a:solidFill>
              </a:rPr>
              <a:t>Obrigado!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"/>
          <p:cNvSpPr txBox="1"/>
          <p:nvPr/>
        </p:nvSpPr>
        <p:spPr>
          <a:xfrm>
            <a:off x="411480" y="256032"/>
            <a:ext cx="11384280" cy="749808"/>
          </a:xfrm>
          <a:prstGeom prst="rect">
            <a:avLst/>
          </a:prstGeom>
          <a:solidFill>
            <a:srgbClr val="0E1B2A"/>
          </a:solidFill>
          <a:ln w="12700">
            <a:solidFill>
              <a:srgbClr val="0E1B2A"/>
            </a:solidFill>
          </a:ln>
        </p:spPr>
        <p:txBody>
          <a:bodyPr wrap="square" anchor="mid"/>
          <a:lstStyle/>
          <a:p>
            <a:pPr algn="ctr"/>
            <a:r>
              <a:rPr lang="pt-BR" sz="3200" typeface="Arial" b="1">
                <a:solidFill>
                  <a:srgbClr val="FFFFFF"/>
                </a:solidFill>
              </a:rPr>
              <a:t>Diagrama UML-F: Pagamento</a:t>
            </a:r>
          </a:p>
          <a:p>
            <a:pPr algn="ctr"/>
            <a:r>
              <a:rPr lang="pt-BR" sz="1500" typeface="Arial">
                <a:solidFill>
                  <a:srgbClr val="DDEBFA"/>
                </a:solidFill>
              </a:rPr>
              <a:t>Hot Spot 2 - Template Method</a:t>
            </a:r>
          </a:p>
        </p:txBody>
      </p:sp>
      <p:pic>
        <p:nvPicPr>
          <p:cNvPr id="3" name="Imag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9675512" cy="4251960"/>
          </a:xfrm>
          <a:prstGeom prst="rect">
            <a:avLst/>
          </a:prstGeom>
          <a:ln w="9525">
            <a:solidFill>
              <a:srgbClr val="C9D6E2"/>
            </a:solidFill>
          </a:ln>
        </p:spPr>
      </p:pic>
      <p:sp>
        <p:nvSpPr>
          <p:cNvPr id="4" name="Texto"/>
          <p:cNvSpPr txBox="1"/>
          <p:nvPr/>
        </p:nvSpPr>
        <p:spPr>
          <a:xfrm>
            <a:off x="1051560" y="5596128"/>
            <a:ext cx="10058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2"/>
            </a:solidFill>
          </a:ln>
        </p:spPr>
        <p:txBody>
          <a:bodyPr wrap="square" anchor="mid"/>
          <a:lstStyle/>
          <a:p>
            <a:pPr algn="ctr"/>
            <a:r>
              <a:rPr lang="pt-BR" sz="1600" typeface="Arial">
                <a:solidFill>
                  <a:srgbClr val="102033"/>
                </a:solidFill>
              </a:rPr>
              <a:t>Use se quiser reforcar frozen spot + hook abstrato.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"/>
          <p:cNvSpPr txBox="1"/>
          <p:nvPr/>
        </p:nvSpPr>
        <p:spPr>
          <a:xfrm>
            <a:off x="411480" y="256032"/>
            <a:ext cx="11384280" cy="749808"/>
          </a:xfrm>
          <a:prstGeom prst="rect">
            <a:avLst/>
          </a:prstGeom>
          <a:solidFill>
            <a:srgbClr val="0E1B2A"/>
          </a:solidFill>
          <a:ln w="12700">
            <a:solidFill>
              <a:srgbClr val="0E1B2A"/>
            </a:solidFill>
          </a:ln>
        </p:spPr>
        <p:txBody>
          <a:bodyPr wrap="square" anchor="mid"/>
          <a:lstStyle/>
          <a:p>
            <a:pPr algn="ctr"/>
            <a:r>
              <a:rPr lang="pt-BR" sz="3200" typeface="Arial" b="1">
                <a:solidFill>
                  <a:srgbClr val="FFFFFF"/>
                </a:solidFill>
              </a:rPr>
              <a:t>Diagrama UML-F: Evento</a:t>
            </a:r>
          </a:p>
          <a:p>
            <a:pPr algn="ctr"/>
            <a:r>
              <a:rPr lang="pt-BR" sz="1500" typeface="Arial">
                <a:solidFill>
                  <a:srgbClr val="DDEBFA"/>
                </a:solidFill>
              </a:rPr>
              <a:t>Hot Spot 3 - Template Method</a:t>
            </a:r>
          </a:p>
        </p:txBody>
      </p:sp>
      <p:pic>
        <p:nvPicPr>
          <p:cNvPr id="3" name="Imag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7261938" cy="4251960"/>
          </a:xfrm>
          <a:prstGeom prst="rect">
            <a:avLst/>
          </a:prstGeom>
          <a:ln w="9525">
            <a:solidFill>
              <a:srgbClr val="C9D6E2"/>
            </a:solidFill>
          </a:ln>
        </p:spPr>
      </p:pic>
      <p:sp>
        <p:nvSpPr>
          <p:cNvPr id="4" name="Texto"/>
          <p:cNvSpPr txBox="1"/>
          <p:nvPr/>
        </p:nvSpPr>
        <p:spPr>
          <a:xfrm>
            <a:off x="1051560" y="5596128"/>
            <a:ext cx="10058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2"/>
            </a:solidFill>
          </a:ln>
        </p:spPr>
        <p:txBody>
          <a:bodyPr wrap="square" anchor="mid"/>
          <a:lstStyle/>
          <a:p>
            <a:pPr algn="ctr"/>
            <a:r>
              <a:rPr lang="pt-BR" sz="1600" typeface="Arial">
                <a:solidFill>
                  <a:srgbClr val="102033"/>
                </a:solidFill>
              </a:rPr>
              <a:t>Mostra variacao entre colacao, baile e missa.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"/>
          <p:cNvSpPr txBox="1"/>
          <p:nvPr/>
        </p:nvSpPr>
        <p:spPr>
          <a:xfrm>
            <a:off x="411480" y="256032"/>
            <a:ext cx="11384280" cy="749808"/>
          </a:xfrm>
          <a:prstGeom prst="rect">
            <a:avLst/>
          </a:prstGeom>
          <a:solidFill>
            <a:srgbClr val="0E1B2A"/>
          </a:solidFill>
          <a:ln w="12700">
            <a:solidFill>
              <a:srgbClr val="0E1B2A"/>
            </a:solidFill>
          </a:ln>
        </p:spPr>
        <p:txBody>
          <a:bodyPr wrap="square" anchor="mid"/>
          <a:lstStyle/>
          <a:p>
            <a:pPr algn="ctr"/>
            <a:r>
              <a:rPr lang="pt-BR" sz="3200" typeface="Arial" b="1">
                <a:solidFill>
                  <a:srgbClr val="FFFFFF"/>
                </a:solidFill>
              </a:rPr>
              <a:t>Diagrama UML-F: Rateio e Votacao</a:t>
            </a:r>
          </a:p>
          <a:p>
            <a:pPr algn="ctr"/>
            <a:r>
              <a:rPr lang="pt-BR" sz="1500" typeface="Arial">
                <a:solidFill>
                  <a:srgbClr val="DDEBFA"/>
                </a:solidFill>
              </a:rPr>
              <a:t>Hot Spots 1 e 4 - Strategy</a:t>
            </a:r>
          </a:p>
        </p:txBody>
      </p:sp>
      <p:pic>
        <p:nvPicPr>
          <p:cNvPr id="3" name="Imag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10789920" cy="2124148"/>
          </a:xfrm>
          <a:prstGeom prst="rect">
            <a:avLst/>
          </a:prstGeom>
          <a:ln w="9525">
            <a:solidFill>
              <a:srgbClr val="C9D6E2"/>
            </a:solidFill>
          </a:ln>
        </p:spPr>
      </p:pic>
      <p:sp>
        <p:nvSpPr>
          <p:cNvPr id="4" name="Texto"/>
          <p:cNvSpPr txBox="1"/>
          <p:nvPr/>
        </p:nvSpPr>
        <p:spPr>
          <a:xfrm>
            <a:off x="1051560" y="5596128"/>
            <a:ext cx="10058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2"/>
            </a:solidFill>
          </a:ln>
        </p:spPr>
        <p:txBody>
          <a:bodyPr wrap="square" anchor="mid"/>
          <a:lstStyle/>
          <a:p>
            <a:pPr algn="ctr"/>
            <a:r>
              <a:rPr lang="pt-BR" sz="1600" typeface="Arial">
                <a:solidFill>
                  <a:srgbClr val="102033"/>
                </a:solidFill>
              </a:rPr>
              <a:t>Mostra as estrategias plugaveis.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"/>
          <p:cNvSpPr txBox="1"/>
          <p:nvPr/>
        </p:nvSpPr>
        <p:spPr>
          <a:xfrm>
            <a:off x="411480" y="256032"/>
            <a:ext cx="11384280" cy="749808"/>
          </a:xfrm>
          <a:prstGeom prst="rect">
            <a:avLst/>
          </a:prstGeom>
          <a:solidFill>
            <a:srgbClr val="0E1B2A"/>
          </a:solidFill>
          <a:ln w="12700">
            <a:solidFill>
              <a:srgbClr val="0E1B2A"/>
            </a:solidFill>
          </a:ln>
        </p:spPr>
        <p:txBody>
          <a:bodyPr wrap="square" anchor="mid"/>
          <a:lstStyle/>
          <a:p>
            <a:pPr algn="ctr"/>
            <a:r>
              <a:rPr lang="pt-BR" sz="3200" typeface="Arial" b="1">
                <a:solidFill>
                  <a:srgbClr val="FFFFFF"/>
                </a:solidFill>
              </a:rPr>
              <a:t>Diagrama UML-F: Parte Invariante</a:t>
            </a:r>
          </a:p>
          <a:p>
            <a:pPr algn="ctr"/>
            <a:r>
              <a:rPr lang="pt-BR" sz="1500" typeface="Arial">
                <a:solidFill>
                  <a:srgbClr val="DDEBFA"/>
                </a:solidFill>
              </a:rPr>
              <a:t>GestorFormatura como nucleo reutilizavel</a:t>
            </a:r>
          </a:p>
        </p:txBody>
      </p:sp>
      <p:pic>
        <p:nvPicPr>
          <p:cNvPr id="3" name="Imag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10504842" cy="4251960"/>
          </a:xfrm>
          <a:prstGeom prst="rect">
            <a:avLst/>
          </a:prstGeom>
          <a:ln w="9525">
            <a:solidFill>
              <a:srgbClr val="C9D6E2"/>
            </a:solidFill>
          </a:ln>
        </p:spPr>
      </p:pic>
      <p:sp>
        <p:nvSpPr>
          <p:cNvPr id="4" name="Texto"/>
          <p:cNvSpPr txBox="1"/>
          <p:nvPr/>
        </p:nvSpPr>
        <p:spPr>
          <a:xfrm>
            <a:off x="1051560" y="5596128"/>
            <a:ext cx="10058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2"/>
            </a:solidFill>
          </a:ln>
        </p:spPr>
        <p:txBody>
          <a:bodyPr wrap="square" anchor="mid"/>
          <a:lstStyle/>
          <a:p>
            <a:pPr algn="ctr"/>
            <a:r>
              <a:rPr lang="pt-BR" sz="1600" typeface="Arial">
                <a:solidFill>
                  <a:srgbClr val="102033"/>
                </a:solidFill>
              </a:rPr>
              <a:t>Mostra a orquestracao dos hot spots.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matura">
  <a:themeElements>
    <a:clrScheme name="Formatura">
      <a:dk1>
        <a:srgbClr val="102033"/>
      </a:dk1>
      <a:lt1>
        <a:srgbClr val="FFFFFF"/>
      </a:lt1>
      <a:dk2>
        <a:srgbClr val="0E1B2A"/>
      </a:dk2>
      <a:lt2>
        <a:srgbClr val="F7F9FC"/>
      </a:lt2>
      <a:accent1>
        <a:srgbClr val="1769AA"/>
      </a:accent1>
      <a:accent2>
        <a:srgbClr val="228B66"/>
      </a:accent2>
      <a:accent3>
        <a:srgbClr val="C98118"/>
      </a:accent3>
      <a:accent4>
        <a:srgbClr val="B23B3B"/>
      </a:accent4>
      <a:accent5>
        <a:srgbClr val="52616F"/>
      </a:accent5>
      <a:accent6>
        <a:srgbClr val="C9D6E2"/>
      </a:accent6>
      <a:hlink>
        <a:srgbClr val="1769AA"/>
      </a:hlink>
      <a:folHlink>
        <a:srgbClr val="7A5AA6"/>
      </a:folHlink>
    </a:clrScheme>
    <a:fontScheme name="Arial">
      <a:majorFont>
        <a:latin typeface="Arial"/>
      </a:majorFont>
      <a:minorFont>
        <a:latin typeface="Arial"/>
      </a:minorFont>
    </a:fontScheme>
    <a:fmtScheme name="Office">
      <a:fillStyleLst/>
      <a:lnStyleLst/>
      <a:effectStyleLst/>
      <a:bgFillStyleLst/>
    </a:fmtScheme>
  </a:themeElements>
</a:theme>
</file>